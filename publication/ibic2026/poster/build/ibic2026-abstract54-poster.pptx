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21e8bb2fc14e2e" /><Relationship Type="http://schemas.openxmlformats.org/officeDocument/2006/relationships/extended-properties" Target="/docProps/app.xml" Id="R5325175d3cb24435" /><Relationship Type="http://schemas.openxmlformats.org/officeDocument/2006/relationships/officeDocument" Target="/ppt/presentation.xml" Id="R239cdad16ff542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33c1f21ee84a46"/>
  </p:sldMasterIdLst>
  <p:notesMasterIdLst>
    <p:notesMasterId xmlns:r="http://schemas.openxmlformats.org/officeDocument/2006/relationships" r:id="R40b60bfa08a84e1f"/>
  </p:notesMasterIdLst>
  <p:sldIdLst>
    <p:sldId xmlns:r="http://schemas.openxmlformats.org/officeDocument/2006/relationships" id="256" r:id="R3e644e6eb4df4e1b"/>
  </p:sldIdLst>
  <p:sldSz cx="30267275" cy="42794238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ff0bc35ca849c4" /><Relationship Type="http://schemas.openxmlformats.org/officeDocument/2006/relationships/slideMaster" Target="/ppt/slideMasters/slideMaster1.xml" Id="R6033c1f21ee84a46" /><Relationship Type="http://schemas.openxmlformats.org/officeDocument/2006/relationships/notesMaster" Target="/ppt/notesMasters/notesMaster1.xml" Id="R40b60bfa08a84e1f" /><Relationship Type="http://schemas.openxmlformats.org/officeDocument/2006/relationships/presProps" Target="/ppt/presProps.xml" Id="Rfe86531e003a4e8d" /><Relationship Type="http://schemas.openxmlformats.org/officeDocument/2006/relationships/viewProps" Target="/ppt/viewProps.xml" Id="R593c67cd5e0a4ce7" /><Relationship Type="http://schemas.openxmlformats.org/officeDocument/2006/relationships/tableStyles" Target="/ppt/tableStyles.xml" Id="Rd50a9ee96df34b09" /><Relationship Type="http://schemas.openxmlformats.org/officeDocument/2006/relationships/slide" Target="/ppt/slides/slide1.xml" Id="R3e644e6eb4df4e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0091dd8afe4a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A0_PosterTemplate_Vertical_092315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b4cb34fffe42e2" /><Relationship Type="http://schemas.openxmlformats.org/officeDocument/2006/relationships/notesMaster" Target="/ppt/notesMasters/notesMaster1.xml" Id="Rc9904910b8ed49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Accepted paper evidence: publication/ibic2026/results_payload.json (poster evidence gate).</a:t>
            </a:r>
          </a:p>
          <a:p xmlns:a="http://schemas.openxmlformats.org/drawingml/2006/main">
            <a:r>
              <a:t>- H and V validation plus ridge-density graphics: publication/ibic2026/reports/publication_figures/poster/.</a:t>
            </a:r>
          </a:p>
          <a:p xmlns:a="http://schemas.openxmlformats.org/drawingml/2006/main">
            <a:r>
              <a:t>- Beamline map: Delivery Ring BPM Status 7-16-2026 - DAS .pptx, slide 2; George Deinlein, Fermilab staff; used with full permission confirmed 2026-08-19; extracted asset SHA-256 7422ad58a659d6149139180bd6d35cd1fc9bd05ba94af6314f9fceb069278ce6.</a:t>
            </a:r>
          </a:p>
          <a:p xmlns:a="http://schemas.openxmlformats.org/drawingml/2006/main">
            <a:r>
              <a:t>- Fermilab publication requirements: FERMILAB-POSTER-26-0268-AD; This manuscript has been authored by FermiForward Discovery Group, LLC under Contract No. 89243024CSC000002 with the U.S. Department of Energy, Office of Science, Office of High Energy Physics.</a:t>
            </a:r>
          </a:p>
          <a:p xmlns:a="http://schemas.openxmlformats.org/drawingml/2006/main">
            <a:r>
              <a:t>- Print submission: final PDF to Cindy Arnold &lt;carnold@fnal.gov&gt;.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006f2a6c2d4b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557cc832b046dd" /></Relationships>
</file>

<file path=ppt/slideLayouts/slideLayout1.xml><?xml version="1.0" encoding="utf-8"?>
<p:sldLayout xmlns:p="http://schemas.openxmlformats.org/presentationml/2006/main" userDrawn="1">
  <p:cSld name="2 column 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Picture Placeholder 8">
            <a:extLst xmlns:a="http://schemas.openxmlformats.org/drawingml/2006/main">
              <a:ext uri="{FF2B5EF4-FFF2-40B4-BE49-F238E27FC236}">
                <a16:creationId xmlns:a16="http://schemas.microsoft.com/office/drawing/2014/main" id="{9C4BF653-D3DF-475E-A133-EE046F5B1A09}"/>
              </a:ext>
            </a:extLst>
          </p:cNvPr>
          <p:cNvSpPr>
            <a:spLocks xmlns:a="http://schemas.openxmlformats.org/drawingml/2006/main" noGrp="1"/>
          </p:cNvSpPr>
          <p:nvPr>
            <p:ph type="pic" idx="19"/>
          </p:nvPr>
        </p:nvSpPr>
        <p:spPr>
          <a:xfrm xmlns:a="http://schemas.openxmlformats.org/drawingml/2006/main">
            <a:off x="898697" y="23180675"/>
            <a:ext cx="19198089" cy="56017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72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ED7225BC-8367-4212-A558-A70E23760DA2}"/>
              </a:ext>
            </a:extLst>
          </p:cNvPr>
          <p:cNvSpPr>
            <a:spLocks xmlns:a="http://schemas.openxmlformats.org/drawingml/2006/main" noGrp="1"/>
          </p:cNvSpPr>
          <p:nvPr>
            <p:ph type="pic" idx="38"/>
          </p:nvPr>
        </p:nvSpPr>
        <p:spPr>
          <a:xfrm xmlns:a="http://schemas.openxmlformats.org/drawingml/2006/main">
            <a:off x="20987430" y="7705726"/>
            <a:ext cx="8366759" cy="8465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13" name="Picture Placeholder 12">
            <a:extLst xmlns:a="http://schemas.openxmlformats.org/drawingml/2006/main">
              <a:ext uri="{FF2B5EF4-FFF2-40B4-BE49-F238E27FC236}">
                <a16:creationId xmlns:a16="http://schemas.microsoft.com/office/drawing/2014/main" id="{6880831F-CA01-436A-A897-B3AD176F9BFA}"/>
              </a:ext>
            </a:extLst>
          </p:cNvPr>
          <p:cNvSpPr>
            <a:spLocks xmlns:a="http://schemas.openxmlformats.org/drawingml/2006/main" noGrp="1"/>
          </p:cNvSpPr>
          <p:nvPr>
            <p:ph type="pic" idx="20"/>
          </p:nvPr>
        </p:nvSpPr>
        <p:spPr>
          <a:xfrm xmlns:a="http://schemas.openxmlformats.org/drawingml/2006/main">
            <a:off x="20976590" y="27391409"/>
            <a:ext cx="8366759" cy="54173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38" name="Picture Placeholder 37">
            <a:extLst xmlns:a="http://schemas.openxmlformats.org/drawingml/2006/main">
              <a:ext uri="{FF2B5EF4-FFF2-40B4-BE49-F238E27FC236}">
                <a16:creationId xmlns:a16="http://schemas.microsoft.com/office/drawing/2014/main" id="{04248FCC-7F10-47E3-94A0-68184F79D700}"/>
              </a:ext>
            </a:extLst>
          </p:cNvPr>
          <p:cNvSpPr>
            <a:spLocks xmlns:a="http://schemas.openxmlformats.org/drawingml/2006/main" noGrp="1"/>
          </p:cNvSpPr>
          <p:nvPr>
            <p:ph type="pic" idx="21"/>
          </p:nvPr>
        </p:nvSpPr>
        <p:spPr>
          <a:xfrm xmlns:a="http://schemas.openxmlformats.org/drawingml/2006/main">
            <a:off x="20987431" y="36347020"/>
            <a:ext cx="1766048" cy="15180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40" name="Picture Placeholder 37">
            <a:extLst xmlns:a="http://schemas.openxmlformats.org/drawingml/2006/main">
              <a:ext uri="{FF2B5EF4-FFF2-40B4-BE49-F238E27FC236}">
                <a16:creationId xmlns:a16="http://schemas.microsoft.com/office/drawing/2014/main" id="{EB366E1B-DD80-495F-B400-76CE0BA5FB6F}"/>
              </a:ext>
            </a:extLst>
          </p:cNvPr>
          <p:cNvSpPr>
            <a:spLocks xmlns:a="http://schemas.openxmlformats.org/drawingml/2006/main" noGrp="1"/>
          </p:cNvSpPr>
          <p:nvPr>
            <p:ph type="pic" idx="22"/>
          </p:nvPr>
        </p:nvSpPr>
        <p:spPr>
          <a:xfrm xmlns:a="http://schemas.openxmlformats.org/drawingml/2006/main">
            <a:off x="27717331" y="36327767"/>
            <a:ext cx="1766048" cy="15610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41" name="Picture Placeholder 37">
            <a:extLst xmlns:a="http://schemas.openxmlformats.org/drawingml/2006/main">
              <a:ext uri="{FF2B5EF4-FFF2-40B4-BE49-F238E27FC236}">
                <a16:creationId xmlns:a16="http://schemas.microsoft.com/office/drawing/2014/main" id="{FF4017B4-3FF6-415C-A5F2-F875306148EC}"/>
              </a:ext>
            </a:extLst>
          </p:cNvPr>
          <p:cNvSpPr>
            <a:spLocks xmlns:a="http://schemas.openxmlformats.org/drawingml/2006/main" noGrp="1"/>
          </p:cNvSpPr>
          <p:nvPr>
            <p:ph type="pic" idx="23"/>
          </p:nvPr>
        </p:nvSpPr>
        <p:spPr>
          <a:xfrm xmlns:a="http://schemas.openxmlformats.org/drawingml/2006/main">
            <a:off x="23201638" y="36381862"/>
            <a:ext cx="1766048" cy="15180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42" name="Picture Placeholder 37">
            <a:extLst xmlns:a="http://schemas.openxmlformats.org/drawingml/2006/main">
              <a:ext uri="{FF2B5EF4-FFF2-40B4-BE49-F238E27FC236}">
                <a16:creationId xmlns:a16="http://schemas.microsoft.com/office/drawing/2014/main" id="{D640F728-D364-407D-82E7-ED5519D125E9}"/>
              </a:ext>
            </a:extLst>
          </p:cNvPr>
          <p:cNvSpPr>
            <a:spLocks xmlns:a="http://schemas.openxmlformats.org/drawingml/2006/main" noGrp="1"/>
          </p:cNvSpPr>
          <p:nvPr>
            <p:ph type="pic" idx="24"/>
          </p:nvPr>
        </p:nvSpPr>
        <p:spPr>
          <a:xfrm xmlns:a="http://schemas.openxmlformats.org/drawingml/2006/main">
            <a:off x="25484318" y="36347020"/>
            <a:ext cx="1766048" cy="15476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46" name="Text Placeholder 45">
            <a:extLst xmlns:a="http://schemas.openxmlformats.org/drawingml/2006/main">
              <a:ext uri="{FF2B5EF4-FFF2-40B4-BE49-F238E27FC236}">
                <a16:creationId xmlns:a16="http://schemas.microsoft.com/office/drawing/2014/main" id="{57E27D2A-BDAB-4E00-9AE4-367656251E12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927426" y="959986"/>
            <a:ext cx="28415923" cy="525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11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14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14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14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14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1" name="Text Placeholder 49">
            <a:extLst xmlns:a="http://schemas.openxmlformats.org/drawingml/2006/main">
              <a:ext uri="{FF2B5EF4-FFF2-40B4-BE49-F238E27FC236}">
                <a16:creationId xmlns:a16="http://schemas.microsoft.com/office/drawing/2014/main" id="{78641AB3-2A3D-43AF-8AD2-EFE81FBCD1EF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869950" y="31073598"/>
            <a:ext cx="19248120" cy="1234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ctr"/>
          <a:lstStyle xmlns:a="http://schemas.openxmlformats.org/drawingml/2006/main">
            <a:lvl1pPr marL="0" indent="0">
              <a:buNone/>
              <a:defRPr sz="5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0" indent="0">
              <a:buNone/>
              <a:defRPr sz="4000" b="0" i="0">
                <a:solidFill>
                  <a:schemeClr val="tx1"/>
                </a:solidFill>
                <a:latin typeface="Helvetica"/>
                <a:ea typeface="Helvetica"/>
                <a:cs typeface="Helvetica"/>
              </a:defRPr>
            </a:lvl2pPr>
            <a:lvl3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3pPr>
            <a:lvl4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4pPr>
            <a:lvl5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2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01DCAA1F-DEB8-41F2-AEBC-3DC6B2225DDD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898697" y="28782380"/>
            <a:ext cx="19199520" cy="1449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7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55B513F0-C7C6-4BC7-B874-84180A478605}"/>
              </a:ext>
            </a:extLst>
          </p:cNvPr>
          <p:cNvSpPr>
            <a:spLocks xmlns:a="http://schemas.openxmlformats.org/drawingml/2006/main" noGrp="1"/>
          </p:cNvSpPr>
          <p:nvPr>
            <p:ph type="pic" idx="34"/>
          </p:nvPr>
        </p:nvSpPr>
        <p:spPr>
          <a:xfrm xmlns:a="http://schemas.openxmlformats.org/drawingml/2006/main">
            <a:off x="869945" y="14255750"/>
            <a:ext cx="12435840" cy="60301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69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45768B05-1E26-42D5-845A-4B9CDC22658A}"/>
              </a:ext>
            </a:extLst>
          </p:cNvPr>
          <p:cNvSpPr>
            <a:spLocks xmlns:a="http://schemas.openxmlformats.org/drawingml/2006/main" noGrp="1"/>
          </p:cNvSpPr>
          <p:nvPr>
            <p:ph type="pic" idx="36"/>
          </p:nvPr>
        </p:nvSpPr>
        <p:spPr>
          <a:xfrm xmlns:a="http://schemas.openxmlformats.org/drawingml/2006/main">
            <a:off x="14106525" y="14255750"/>
            <a:ext cx="6001025" cy="60301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73" name="Text Placeholder 49">
            <a:extLst xmlns:a="http://schemas.openxmlformats.org/drawingml/2006/main">
              <a:ext uri="{FF2B5EF4-FFF2-40B4-BE49-F238E27FC236}">
                <a16:creationId xmlns:a16="http://schemas.microsoft.com/office/drawing/2014/main" id="{74869A2E-2D28-47E8-A235-5E58661F419E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869950" y="7705727"/>
            <a:ext cx="19248120" cy="1229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ctr"/>
          <a:lstStyle xmlns:a="http://schemas.openxmlformats.org/drawingml/2006/main">
            <a:lvl1pPr marL="0" indent="0">
              <a:buNone/>
              <a:defRPr sz="5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0" indent="0">
              <a:buNone/>
              <a:defRPr sz="4000" b="0" i="0">
                <a:solidFill>
                  <a:schemeClr val="tx1"/>
                </a:solidFill>
                <a:latin typeface="Helvetica"/>
                <a:ea typeface="Helvetica"/>
                <a:cs typeface="Helvetica"/>
              </a:defRPr>
            </a:lvl2pPr>
            <a:lvl3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3pPr>
            <a:lvl4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4pPr>
            <a:lvl5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75" name="Text Placeholder 74">
            <a:extLst xmlns:a="http://schemas.openxmlformats.org/drawingml/2006/main">
              <a:ext uri="{FF2B5EF4-FFF2-40B4-BE49-F238E27FC236}">
                <a16:creationId xmlns:a16="http://schemas.microsoft.com/office/drawing/2014/main" id="{D8157BDD-443C-41A7-B6BA-64994E8544AA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869950" y="8935311"/>
            <a:ext cx="19243675" cy="43545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4000" b="0" i="0"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4000"/>
            </a:lvl2pPr>
            <a:lvl3pPr marL="914400" indent="0">
              <a:buNone/>
              <a:defRPr sz="4000"/>
            </a:lvl3pPr>
            <a:lvl4pPr marL="1371600" indent="0">
              <a:buNone/>
              <a:defRPr sz="4000"/>
            </a:lvl4pPr>
            <a:lvl5pPr marL="1828800" indent="0">
              <a:buNone/>
              <a:defRPr sz="4000"/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76" name="Text Placeholder 74">
            <a:extLst xmlns:a="http://schemas.openxmlformats.org/drawingml/2006/main">
              <a:ext uri="{FF2B5EF4-FFF2-40B4-BE49-F238E27FC236}">
                <a16:creationId xmlns:a16="http://schemas.microsoft.com/office/drawing/2014/main" id="{C394C8FB-4008-4FC7-A1FE-3B3E14053972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69950" y="32384828"/>
            <a:ext cx="19243675" cy="588497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4000" b="0" i="0"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4000"/>
            </a:lvl2pPr>
            <a:lvl3pPr marL="914400" indent="0">
              <a:buNone/>
              <a:defRPr sz="4000"/>
            </a:lvl3pPr>
            <a:lvl4pPr marL="1371600" indent="0">
              <a:buNone/>
              <a:defRPr sz="4000"/>
            </a:lvl4pPr>
            <a:lvl5pPr marL="1828800" indent="0">
              <a:buNone/>
              <a:defRPr sz="4000"/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77" name="Text Placeholder 74">
            <a:extLst xmlns:a="http://schemas.openxmlformats.org/drawingml/2006/main">
              <a:ext uri="{FF2B5EF4-FFF2-40B4-BE49-F238E27FC236}">
                <a16:creationId xmlns:a16="http://schemas.microsoft.com/office/drawing/2014/main" id="{0FB0E0B9-C6E6-4517-B26C-91918850F2BF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20987430" y="19819104"/>
            <a:ext cx="8366759" cy="67231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4000" b="0" i="0"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4000"/>
            </a:lvl2pPr>
            <a:lvl3pPr marL="914400" indent="0">
              <a:buNone/>
              <a:defRPr sz="4000"/>
            </a:lvl3pPr>
            <a:lvl4pPr marL="1371600" indent="0">
              <a:buNone/>
              <a:defRPr sz="4000"/>
            </a:lvl4pPr>
            <a:lvl5pPr marL="1828800" indent="0">
              <a:buNone/>
              <a:defRPr sz="4000"/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8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968AF846-7139-4718-A6C9-7E5E3E11F41E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869945" y="20285859"/>
            <a:ext cx="12435840" cy="20375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70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2EF9C14F-8E55-4002-9470-213FDAE68C8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4106525" y="20285859"/>
            <a:ext cx="6007100" cy="20375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1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E4122A61-4FC4-4C38-8A76-A47757379F2B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20987430" y="16262672"/>
            <a:ext cx="8366759" cy="2872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3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2CF873E9-1553-4E64-A79D-C00696BE40A6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0987429" y="32808738"/>
            <a:ext cx="8366760" cy="21590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2 column eve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Picture Placeholder 37">
            <a:extLst xmlns:a="http://schemas.openxmlformats.org/drawingml/2006/main">
              <a:ext uri="{FF2B5EF4-FFF2-40B4-BE49-F238E27FC236}">
                <a16:creationId xmlns:a16="http://schemas.microsoft.com/office/drawing/2014/main" id="{335DA0B5-D21D-4EAE-BF7B-FE3587C1D146}"/>
              </a:ext>
            </a:extLst>
          </p:cNvPr>
          <p:cNvSpPr>
            <a:spLocks xmlns:a="http://schemas.openxmlformats.org/drawingml/2006/main" noGrp="1"/>
          </p:cNvSpPr>
          <p:nvPr>
            <p:ph type="pic" idx="21"/>
          </p:nvPr>
        </p:nvSpPr>
        <p:spPr>
          <a:xfrm xmlns:a="http://schemas.openxmlformats.org/drawingml/2006/main">
            <a:off x="927426" y="36459738"/>
            <a:ext cx="2971800" cy="231898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Picture Placeholder 37">
            <a:extLst xmlns:a="http://schemas.openxmlformats.org/drawingml/2006/main">
              <a:ext uri="{FF2B5EF4-FFF2-40B4-BE49-F238E27FC236}">
                <a16:creationId xmlns:a16="http://schemas.microsoft.com/office/drawing/2014/main" id="{3485EAE8-AE95-493C-8361-F4F98AB5399E}"/>
              </a:ext>
            </a:extLst>
          </p:cNvPr>
          <p:cNvSpPr>
            <a:spLocks xmlns:a="http://schemas.openxmlformats.org/drawingml/2006/main" noGrp="1"/>
          </p:cNvSpPr>
          <p:nvPr>
            <p:ph type="pic" idx="22"/>
          </p:nvPr>
        </p:nvSpPr>
        <p:spPr>
          <a:xfrm xmlns:a="http://schemas.openxmlformats.org/drawingml/2006/main">
            <a:off x="11717346" y="36459738"/>
            <a:ext cx="2971800" cy="231898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5" name="Picture Placeholder 37">
            <a:extLst xmlns:a="http://schemas.openxmlformats.org/drawingml/2006/main">
              <a:ext uri="{FF2B5EF4-FFF2-40B4-BE49-F238E27FC236}">
                <a16:creationId xmlns:a16="http://schemas.microsoft.com/office/drawing/2014/main" id="{943DFD5B-4D7C-4F24-BB34-B84AF55414EB}"/>
              </a:ext>
            </a:extLst>
          </p:cNvPr>
          <p:cNvSpPr>
            <a:spLocks xmlns:a="http://schemas.openxmlformats.org/drawingml/2006/main" noGrp="1"/>
          </p:cNvSpPr>
          <p:nvPr>
            <p:ph type="pic" idx="23"/>
          </p:nvPr>
        </p:nvSpPr>
        <p:spPr>
          <a:xfrm xmlns:a="http://schemas.openxmlformats.org/drawingml/2006/main">
            <a:off x="4561954" y="36459738"/>
            <a:ext cx="2971800" cy="231898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6" name="Picture Placeholder 37">
            <a:extLst xmlns:a="http://schemas.openxmlformats.org/drawingml/2006/main">
              <a:ext uri="{FF2B5EF4-FFF2-40B4-BE49-F238E27FC236}">
                <a16:creationId xmlns:a16="http://schemas.microsoft.com/office/drawing/2014/main" id="{8EA2CD5D-56CF-4EB8-8098-5788FC5F7B35}"/>
              </a:ext>
            </a:extLst>
          </p:cNvPr>
          <p:cNvSpPr>
            <a:spLocks xmlns:a="http://schemas.openxmlformats.org/drawingml/2006/main" noGrp="1"/>
          </p:cNvSpPr>
          <p:nvPr>
            <p:ph type="pic" idx="24"/>
          </p:nvPr>
        </p:nvSpPr>
        <p:spPr>
          <a:xfrm xmlns:a="http://schemas.openxmlformats.org/drawingml/2006/main">
            <a:off x="8139650" y="36459738"/>
            <a:ext cx="2971800" cy="231898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7" name="Text Placeholder 45">
            <a:extLst xmlns:a="http://schemas.openxmlformats.org/drawingml/2006/main">
              <a:ext uri="{FF2B5EF4-FFF2-40B4-BE49-F238E27FC236}">
                <a16:creationId xmlns:a16="http://schemas.microsoft.com/office/drawing/2014/main" id="{768978FD-4042-4622-96CC-709C104386CC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927426" y="959986"/>
            <a:ext cx="28415923" cy="525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11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14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14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14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140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8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794D5F94-F721-41C4-AD38-8F7D55A48CB6}"/>
              </a:ext>
            </a:extLst>
          </p:cNvPr>
          <p:cNvSpPr>
            <a:spLocks xmlns:a="http://schemas.openxmlformats.org/drawingml/2006/main" noGrp="1"/>
          </p:cNvSpPr>
          <p:nvPr>
            <p:ph type="pic" idx="34"/>
          </p:nvPr>
        </p:nvSpPr>
        <p:spPr>
          <a:xfrm xmlns:a="http://schemas.openxmlformats.org/drawingml/2006/main">
            <a:off x="927425" y="15767225"/>
            <a:ext cx="13761720" cy="57090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10" name="Text Placeholder 49">
            <a:extLst xmlns:a="http://schemas.openxmlformats.org/drawingml/2006/main">
              <a:ext uri="{FF2B5EF4-FFF2-40B4-BE49-F238E27FC236}">
                <a16:creationId xmlns:a16="http://schemas.microsoft.com/office/drawing/2014/main" id="{6B165938-DF07-4D70-AE0D-C236202DD344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927424" y="7791921"/>
            <a:ext cx="13761720" cy="1229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ctr"/>
          <a:lstStyle xmlns:a="http://schemas.openxmlformats.org/drawingml/2006/main">
            <a:lvl1pPr marL="0" indent="0">
              <a:buNone/>
              <a:defRPr sz="5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0" indent="0">
              <a:buNone/>
              <a:defRPr sz="4000" b="0" i="0">
                <a:solidFill>
                  <a:schemeClr val="tx1"/>
                </a:solidFill>
                <a:latin typeface="Helvetica"/>
                <a:ea typeface="Helvetica"/>
                <a:cs typeface="Helvetica"/>
              </a:defRPr>
            </a:lvl2pPr>
            <a:lvl3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3pPr>
            <a:lvl4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4pPr>
            <a:lvl5pPr marL="0" indent="0">
              <a:buNone/>
              <a:defRPr sz="60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11" name="Text Placeholder 74">
            <a:extLst xmlns:a="http://schemas.openxmlformats.org/drawingml/2006/main">
              <a:ext uri="{FF2B5EF4-FFF2-40B4-BE49-F238E27FC236}">
                <a16:creationId xmlns:a16="http://schemas.microsoft.com/office/drawing/2014/main" id="{CAF17043-CE38-4D88-AE9D-D2F93E31728D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927426" y="9025241"/>
            <a:ext cx="13761720" cy="57861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4000"/>
            </a:lvl1pPr>
            <a:lvl2pPr marL="457200" indent="0">
              <a:buNone/>
              <a:defRPr sz="4000"/>
            </a:lvl2pPr>
            <a:lvl3pPr marL="914400" indent="0">
              <a:buNone/>
              <a:defRPr sz="4000"/>
            </a:lvl3pPr>
            <a:lvl4pPr marL="1371600" indent="0">
              <a:buNone/>
              <a:defRPr sz="4000"/>
            </a:lvl4pPr>
            <a:lvl5pPr marL="1828800" indent="0">
              <a:buNone/>
              <a:defRPr sz="4000"/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12" name="Text Placeholder 74">
            <a:extLst xmlns:a="http://schemas.openxmlformats.org/drawingml/2006/main">
              <a:ext uri="{FF2B5EF4-FFF2-40B4-BE49-F238E27FC236}">
                <a16:creationId xmlns:a16="http://schemas.microsoft.com/office/drawing/2014/main" id="{3CE592F8-080F-4A36-9F15-D877BC0BC0CC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927425" y="23702278"/>
            <a:ext cx="13761720" cy="71168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4000"/>
            </a:lvl1pPr>
            <a:lvl2pPr marL="457200" indent="0">
              <a:buNone/>
              <a:defRPr sz="4000"/>
            </a:lvl2pPr>
            <a:lvl3pPr marL="914400" indent="0">
              <a:buNone/>
              <a:defRPr sz="4000"/>
            </a:lvl3pPr>
            <a:lvl4pPr marL="1371600" indent="0">
              <a:buNone/>
              <a:defRPr sz="4000"/>
            </a:lvl4pPr>
            <a:lvl5pPr marL="1828800" indent="0">
              <a:buNone/>
              <a:defRPr sz="4000"/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13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166ABDB7-9E3D-4DE2-9EC0-923F64E4AC5D}"/>
              </a:ext>
            </a:extLst>
          </p:cNvPr>
          <p:cNvSpPr>
            <a:spLocks xmlns:a="http://schemas.openxmlformats.org/drawingml/2006/main" noGrp="1"/>
          </p:cNvSpPr>
          <p:nvPr>
            <p:ph type="pic" idx="42"/>
          </p:nvPr>
        </p:nvSpPr>
        <p:spPr>
          <a:xfrm xmlns:a="http://schemas.openxmlformats.org/drawingml/2006/main">
            <a:off x="15608299" y="31698023"/>
            <a:ext cx="13761720" cy="57090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15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5A0AE345-A609-45A1-B8FD-80AB51511438}"/>
              </a:ext>
            </a:extLst>
          </p:cNvPr>
          <p:cNvSpPr>
            <a:spLocks xmlns:a="http://schemas.openxmlformats.org/drawingml/2006/main" noGrp="1"/>
          </p:cNvSpPr>
          <p:nvPr>
            <p:ph type="pic" idx="44"/>
          </p:nvPr>
        </p:nvSpPr>
        <p:spPr>
          <a:xfrm xmlns:a="http://schemas.openxmlformats.org/drawingml/2006/main">
            <a:off x="19265899" y="23702278"/>
            <a:ext cx="10109867" cy="711688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17" name="Picture Placeholder 6">
            <a:extLst xmlns:a="http://schemas.openxmlformats.org/drawingml/2006/main">
              <a:ext uri="{FF2B5EF4-FFF2-40B4-BE49-F238E27FC236}">
                <a16:creationId xmlns:a16="http://schemas.microsoft.com/office/drawing/2014/main" id="{8ABC4827-DC42-4F6A-840B-0C66DAF403FD}"/>
              </a:ext>
            </a:extLst>
          </p:cNvPr>
          <p:cNvSpPr>
            <a:spLocks xmlns:a="http://schemas.openxmlformats.org/drawingml/2006/main" noGrp="1"/>
          </p:cNvSpPr>
          <p:nvPr>
            <p:ph type="pic" idx="46"/>
          </p:nvPr>
        </p:nvSpPr>
        <p:spPr>
          <a:xfrm xmlns:a="http://schemas.openxmlformats.org/drawingml/2006/main">
            <a:off x="15581630" y="7791921"/>
            <a:ext cx="10104120" cy="701946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21" name="Text Placeholder 74">
            <a:extLst xmlns:a="http://schemas.openxmlformats.org/drawingml/2006/main">
              <a:ext uri="{FF2B5EF4-FFF2-40B4-BE49-F238E27FC236}">
                <a16:creationId xmlns:a16="http://schemas.microsoft.com/office/drawing/2014/main" id="{A35E6F52-BFD6-4657-93A2-2F2EF63203A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15614046" y="15767225"/>
            <a:ext cx="13761720" cy="70806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4000"/>
            </a:lvl1pPr>
            <a:lvl2pPr marL="457200" indent="0">
              <a:buNone/>
              <a:defRPr sz="4000"/>
            </a:lvl2pPr>
            <a:lvl3pPr marL="914400" indent="0">
              <a:buNone/>
              <a:defRPr sz="4000"/>
            </a:lvl3pPr>
            <a:lvl4pPr marL="1371600" indent="0">
              <a:buNone/>
              <a:defRPr sz="4000"/>
            </a:lvl4pPr>
            <a:lvl5pPr marL="1828800" indent="0">
              <a:buNone/>
              <a:defRPr sz="4000"/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22" name="Picture Placeholder 21">
            <a:extLst xmlns:a="http://schemas.openxmlformats.org/drawingml/2006/main">
              <a:ext uri="{FF2B5EF4-FFF2-40B4-BE49-F238E27FC236}">
                <a16:creationId xmlns:a16="http://schemas.microsoft.com/office/drawing/2014/main" id="{AD36EBD7-4D0F-473B-BE17-C09104013772}"/>
              </a:ext>
            </a:extLst>
          </p:cNvPr>
          <p:cNvSpPr>
            <a:spLocks xmlns:a="http://schemas.openxmlformats.org/drawingml/2006/main" noGrp="1"/>
          </p:cNvSpPr>
          <p:nvPr>
            <p:ph type="pic" idx="51"/>
          </p:nvPr>
        </p:nvSpPr>
        <p:spPr>
          <a:xfrm xmlns:a="http://schemas.openxmlformats.org/drawingml/2006/main">
            <a:off x="927425" y="31697613"/>
            <a:ext cx="10046645" cy="381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icon to add picture</a:t>
            </a:r>
          </a:p>
        </p:txBody>
      </p:sp>
      <p:sp>
        <p:nvSpPr>
          <p:cNvPr id="16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EA24CE01-05C3-4C75-90FE-D9727C349186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10974070" y="31698024"/>
            <a:ext cx="3715076" cy="38098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20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44F03D87-7581-4ACB-8BAF-47C7A2689681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15608299" y="23702277"/>
            <a:ext cx="3657600" cy="7116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14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B55F0104-7480-4510-96F3-EE1EAA44FCD9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15608299" y="37407119"/>
            <a:ext cx="137617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9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648EBB58-07BE-487D-8A80-61C04339BAC2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927425" y="21476320"/>
            <a:ext cx="137617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18" name="Text Placeholder 59">
            <a:extLst xmlns:a="http://schemas.openxmlformats.org/drawingml/2006/main">
              <a:ext uri="{FF2B5EF4-FFF2-40B4-BE49-F238E27FC236}">
                <a16:creationId xmlns:a16="http://schemas.microsoft.com/office/drawing/2014/main" id="{0C54FFC3-49F6-4977-A680-BD1546AA1982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25685749" y="7791921"/>
            <a:ext cx="3657600" cy="70194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274320" rIns="274320" bIns="274320"/>
          <a:lstStyle xmlns:a="http://schemas.openxmlformats.org/drawingml/2006/main">
            <a:lvl1pPr marL="0" indent="0">
              <a:buNone/>
              <a:defRPr sz="2400" b="1" i="0">
                <a:solidFill>
                  <a:srgbClr val="004C97"/>
                </a:solidFill>
                <a:latin typeface="Helvetica"/>
                <a:ea typeface="Helvetica"/>
                <a:cs typeface="Helvetica"/>
              </a:defRPr>
            </a:lvl1pPr>
            <a:lvl2pPr marL="4572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2pPr>
            <a:lvl3pPr marL="9144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3pPr>
            <a:lvl4pPr marL="13716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4pPr>
            <a:lvl5pPr marL="1828800" indent="0">
              <a:buNone/>
              <a:defRPr sz="2400" b="1" i="0">
                <a:solidFill>
                  <a:schemeClr val="bg1"/>
                </a:solidFill>
                <a:latin typeface="Helvetica"/>
                <a:ea typeface="Helvetica"/>
                <a:cs typeface="Helvetica"/>
              </a:defRPr>
            </a:lvl5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ea81999d99ed45fb" /><Relationship Type="http://schemas.openxmlformats.org/officeDocument/2006/relationships/theme" Target="/ppt/slideMasters/theme/theme2.xml" Id="R4ee0a34402194872" /><Relationship Type="http://schemas.openxmlformats.org/officeDocument/2006/relationships/slideLayout" Target="/ppt/slideLayouts/slideLayout1.xml" Id="Rb2d51af6c0e74f92" /><Relationship Type="http://schemas.openxmlformats.org/officeDocument/2006/relationships/slideLayout" Target="/ppt/slideLayouts/slideLayout2.xml" Id="R10224f69302e434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2BB91A4-EFDE-46CC-A8A9-51DB1E45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5470"/>
            <a:ext cx="30291088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C97"/>
          </a:solidFill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2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81999d99ed45f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40854329"/>
            <a:ext cx="29375100" cy="990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C4BBCAF-7954-40DE-AE3B-15CD0F80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29108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C97"/>
          </a:solidFill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d51af6c0e74f92"/>
    <p:sldLayoutId xmlns:r="http://schemas.openxmlformats.org/officeDocument/2006/relationships" id="2147483650" r:id="R10224f69302e4341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A0_PosterTemplate_Vertical_092315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8e79b77454e7c" /><Relationship Type="http://schemas.openxmlformats.org/officeDocument/2006/relationships/image" Target="/ppt/media/image2.png" Id="R7047ecec9e1148ef" /><Relationship Type="http://schemas.openxmlformats.org/officeDocument/2006/relationships/image" Target="/ppt/media/image3.png" Id="Rd1e4a754dcb042ba" /><Relationship Type="http://schemas.openxmlformats.org/officeDocument/2006/relationships/image" Target="/ppt/media/image4.png" Id="Rb62d53f56e1c410a" /><Relationship Type="http://schemas.openxmlformats.org/officeDocument/2006/relationships/image" Target="/ppt/media/image5.png" Id="Rf7431b2dee53429a" /><Relationship Type="http://schemas.openxmlformats.org/officeDocument/2006/relationships/notesSlide" Target="/ppt/notesSlides/notesSlide1.xml" Id="R609c1904ad2446a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07A44070-BF6A-4B10-AF51-30531C7AB647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>
                <a:latin typeface="Arial"/>
                <a:ea typeface="Arial"/>
                <a:cs typeface="Arial"/>
              </a:defRPr>
            </a:pPr>
            <a:r>
              <a:rPr sz="9600" b="1">
                <a:latin typeface="Arial"/>
                <a:ea typeface="Arial"/>
                <a:cs typeface="Arial"/>
              </a:rPr>
              <a:t>Which BPMs can we trust, spill by spill?</a:t>
            </a:r>
          </a:p>
          <a:p xmlns:a="http://schemas.openxmlformats.org/drawingml/2006/main">
            <a:pPr>
              <a:defRPr>
                <a:latin typeface="Arial"/>
                <a:ea typeface="Arial"/>
                <a:cs typeface="Arial"/>
              </a:defRPr>
            </a:pPr>
            <a:r>
              <a:rPr sz="4650" b="0">
                <a:latin typeface="Arial"/>
                <a:ea typeface="Arial"/>
                <a:cs typeface="Arial"/>
              </a:rPr>
              <a:t>Adaptive turn-by-turn tune analysis in the Mu2e Delivery Ring</a:t>
            </a:r>
          </a:p>
          <a:p xmlns:a="http://schemas.openxmlformats.org/drawingml/2006/main">
            <a:pPr>
              <a:defRPr>
                <a:latin typeface="Arial"/>
                <a:ea typeface="Arial"/>
                <a:cs typeface="Arial"/>
              </a:defRPr>
            </a:pPr>
            <a:r>
              <a:rPr sz="3375" b="0">
                <a:latin typeface="Arial"/>
                <a:ea typeface="Arial"/>
                <a:cs typeface="Arial"/>
              </a:rPr>
              <a:t>Derek Steinkamp | Fermi National Accelerator Laboratory</a:t>
            </a:r>
          </a:p>
        </p:txBody>
      </p:sp>
      <p:sp>
        <p:nvSpPr>
          <p:cNvPr id="38" name="Text Placeholder 9">
            <a:extLst xmlns:a="http://schemas.openxmlformats.org/drawingml/2006/main">
              <a:ext uri="{FF2B5EF4-FFF2-40B4-BE49-F238E27FC236}">
                <a16:creationId xmlns:a16="http://schemas.microsoft.com/office/drawing/2014/main" id="{3B3B69DB-AC6F-487B-8FEB-1F542F3B98AF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15685770" y="32623125"/>
            <a:ext cx="13668375" cy="857250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4C97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4C97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12" name="Text Placeholder 11">
            <a:extLst xmlns:a="http://schemas.openxmlformats.org/drawingml/2006/main">
              <a:ext uri="{FF2B5EF4-FFF2-40B4-BE49-F238E27FC236}">
                <a16:creationId xmlns:a16="http://schemas.microsoft.com/office/drawing/2014/main" id="{115D343C-408C-42C0-A1C5-E3B7BA3D03A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69918" y="40052625"/>
            <a:ext cx="17145000" cy="16668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manuscript has been authored by FermiForward Discovery Group, LLC under Contract No. 89243024CSC000002 with the U.S. Department of Energy, Office of Science, Office of High Energy Physics.</a:t>
            </a:r>
          </a:p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Beamline layout courtesy of George Deinlein, Fermilab staff; used with permission.</a:t>
            </a:r>
          </a:p>
        </p:txBody>
      </p:sp>
      <p:sp>
        <p:nvSpPr>
          <p:cNvPr id="34" name="Text Placeholder 17">
            <a:extLst xmlns:a="http://schemas.openxmlformats.org/drawingml/2006/main">
              <a:ext uri="{FF2B5EF4-FFF2-40B4-BE49-F238E27FC236}">
                <a16:creationId xmlns:a16="http://schemas.microsoft.com/office/drawing/2014/main" id="{C522ABAA-F5B2-46AE-A228-D8A1D25D9604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869918" y="22145625"/>
            <a:ext cx="28484227" cy="952500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004C97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004C97"/>
                </a:solidFill>
                <a:latin typeface="Arial"/>
                <a:ea typeface="Arial"/>
                <a:cs typeface="Arial"/>
              </a:rPr>
              <a:t>THERE IS NO SINGLE BEST BPM</a:t>
            </a:r>
          </a:p>
        </p:txBody>
      </p:sp>
      <p:sp>
        <p:nvSpPr>
          <p:cNvPr id="36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57FE9931-39F7-4355-96BE-BC674C817037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869918" y="23098125"/>
            <a:ext cx="28484227" cy="1047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60 H and 60 V sources win at least once. Choose early; test later with held-out digitizers.</a:t>
            </a:r>
          </a:p>
        </p:txBody>
      </p:sp>
      <p:sp>
        <p:nvSpPr>
          <p:cNvPr id="39" name="Text Placeholder 19">
            <a:extLst xmlns:a="http://schemas.openxmlformats.org/drawingml/2006/main">
              <a:ext uri="{FF2B5EF4-FFF2-40B4-BE49-F238E27FC236}">
                <a16:creationId xmlns:a16="http://schemas.microsoft.com/office/drawing/2014/main" id="{AA4A1BB5-06FE-4892-B35D-3A62722303AC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685770" y="33528000"/>
            <a:ext cx="13668375" cy="50958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 Best-5 narrows the ridge. V Best-12 agrees more strongly. All-channel aggregation remains competitive.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31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Useful operating points - not universal optima.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31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this the machine tune? Not yet. Next: change the tune on purpose (a controlled quadrupole scan) and ask whether the candidate follows.</a:t>
            </a:r>
          </a:p>
        </p:txBody>
      </p:sp>
      <p:sp>
        <p:nvSpPr>
          <p:cNvPr id="40" name="Text Placeholder 20">
            <a:extLst xmlns:a="http://schemas.openxmlformats.org/drawingml/2006/main">
              <a:ext uri="{FF2B5EF4-FFF2-40B4-BE49-F238E27FC236}">
                <a16:creationId xmlns:a16="http://schemas.microsoft.com/office/drawing/2014/main" id="{35506DCD-02DA-4D8B-9D24-E56CCC82B0F8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20764500" y="304800"/>
            <a:ext cx="8572500" cy="552450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FERMILAB-POSTER-26-0268-AD</a:t>
            </a:r>
          </a:p>
        </p:txBody>
      </p:sp>
      <p:sp>
        <p:nvSpPr>
          <p:cNvPr id="11" name="Text Placeholder 10">
            <a:extLst xmlns:a="http://schemas.openxmlformats.org/drawingml/2006/main">
              <a:ext uri="{FF2B5EF4-FFF2-40B4-BE49-F238E27FC236}">
                <a16:creationId xmlns:a16="http://schemas.microsoft.com/office/drawing/2014/main" id="{D951D0B9-C16D-478C-883C-FBEC31B356DB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869918" y="6572250"/>
            <a:ext cx="28484227" cy="1047750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004C97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004C97"/>
                </a:solidFill>
                <a:latin typeface="Arial"/>
                <a:ea typeface="Arial"/>
                <a:cs typeface="Arial"/>
              </a:rPr>
              <a:t>DOES THE CANDIDATE PERSIST FOR 50,000 TURNS?</a:t>
            </a:r>
          </a:p>
        </p:txBody>
      </p:sp>
      <p:sp>
        <p:nvSpPr>
          <p:cNvPr id="2" name="Text Placeholder 1">
            <a:extLst xmlns:a="http://schemas.openxmlformats.org/drawingml/2006/main">
              <a:ext uri="{FF2B5EF4-FFF2-40B4-BE49-F238E27FC236}">
                <a16:creationId xmlns:a16="http://schemas.microsoft.com/office/drawing/2014/main" id="{672D8A87-C037-433C-852C-ED65B368B25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967359" y="31432500"/>
            <a:ext cx="13573125" cy="1190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4C9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4C97"/>
                </a:solidFill>
                <a:latin typeface="Arial"/>
                <a:ea typeface="Arial"/>
                <a:cs typeface="Arial"/>
              </a:rPr>
              <a:t>H: Best-5 reached 9.1%. The null band ends at 8.9% - promising, not decisive.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41CDA26-A61B-4535-A2B2-2F73AEC52382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5781020" y="31432500"/>
            <a:ext cx="13573125" cy="1190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4C9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4C97"/>
                </a:solidFill>
                <a:latin typeface="Arial"/>
                <a:ea typeface="Arial"/>
                <a:cs typeface="Arial"/>
              </a:rPr>
              <a:t>V: Best-12 reached 26.3%. The null band ends at 18.3% - a clear separation.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D9AC6E8-924E-43FB-9E56-BB608388899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869918" y="32623125"/>
            <a:ext cx="13811250" cy="7143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4C9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4C97"/>
                </a:solidFill>
                <a:latin typeface="Arial"/>
                <a:ea typeface="Arial"/>
                <a:cs typeface="Arial"/>
              </a:rPr>
              <a:t>The loop at right is the Delivery Ring. Its position readouts do not behave equally.</a:t>
            </a:r>
          </a:p>
        </p:txBody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7ecec9e1148ef"/>
          <a:stretch xmlns:a="http://schemas.openxmlformats.org/drawingml/2006/main"/>
        </p:blipFill>
        <p:spPr>
          <a:xfrm xmlns:a="http://schemas.openxmlformats.org/drawingml/2006/main">
            <a:off x="1737218" y="33337500"/>
            <a:ext cx="12076651" cy="4762500"/>
          </a:xfrm>
          <a:prstGeom xmlns:a="http://schemas.openxmlformats.org/drawingml/2006/main" prst="rect">
            <a:avLst/>
          </a:prstGeom>
        </p:spPr>
      </p:pic>
      <p:pic>
        <p:nvPicPr>
          <p:cNvPr id="1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e4a754dcb042ba"/>
          <a:stretch xmlns:a="http://schemas.openxmlformats.org/drawingml/2006/main"/>
        </p:blipFill>
        <p:spPr>
          <a:xfrm xmlns:a="http://schemas.openxmlformats.org/drawingml/2006/main">
            <a:off x="1369981" y="24193500"/>
            <a:ext cx="12668250" cy="7239000"/>
          </a:xfrm>
          <a:prstGeom xmlns:a="http://schemas.openxmlformats.org/drawingml/2006/main" prst="rect">
            <a:avLst/>
          </a:prstGeom>
        </p:spPr>
      </p:pic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d53f56e1c410a"/>
          <a:stretch xmlns:a="http://schemas.openxmlformats.org/drawingml/2006/main"/>
        </p:blipFill>
        <p:spPr>
          <a:xfrm xmlns:a="http://schemas.openxmlformats.org/drawingml/2006/main">
            <a:off x="16185833" y="24193500"/>
            <a:ext cx="12668250" cy="7239000"/>
          </a:xfrm>
          <a:prstGeom xmlns:a="http://schemas.openxmlformats.org/drawingml/2006/main" prst="rect">
            <a:avLst/>
          </a:prstGeom>
        </p:spPr>
      </p:pic>
      <p:pic>
        <p:nvPicPr>
          <p:cNvPr id="1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431b2dee53429a"/>
          <a:stretch xmlns:a="http://schemas.openxmlformats.org/drawingml/2006/main"/>
        </p:blipFill>
        <p:spPr>
          <a:xfrm xmlns:a="http://schemas.openxmlformats.org/drawingml/2006/main">
            <a:off x="3681413" y="7620000"/>
            <a:ext cx="22860000" cy="14439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737948"/>
      </p:ext>
    </p:extLst>
  </p:cSld>
</p:sld>
</file>

<file path=ppt/theme/theme1.xml><?xml version="1.0" encoding="utf-8"?>
<a:theme xmlns:a="http://schemas.openxmlformats.org/drawingml/2006/main" name="A0_PosterTemplate_Vertical_092315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2026-08-19T21:58:40.6620000Z</dcterms:created>
  <dcterms:modified xsi:type="dcterms:W3CDTF">2026-08-19T21:58:40.6620000Z</dcterms:modified>
</coreProperties>
</file>